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Merriweather Medium"/>
      <p:regular r:id="rId23"/>
      <p:bold r:id="rId24"/>
      <p:italic r:id="rId25"/>
      <p:boldItalic r:id="rId26"/>
    </p:embeddedFont>
    <p:embeddedFont>
      <p:font typeface="Merriweather"/>
      <p:regular r:id="rId27"/>
      <p:bold r:id="rId28"/>
      <p:italic r:id="rId29"/>
      <p:boldItalic r:id="rId30"/>
    </p:embeddedFont>
    <p:embeddedFont>
      <p:font typeface="DM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9500BF-F672-4BE0-8F16-7FBF7CD81D74}">
  <a:tblStyle styleId="{FB9500BF-F672-4BE0-8F16-7FBF7CD81D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MerriweatherMedium-bold.fntdata"/><Relationship Id="rId23" Type="http://schemas.openxmlformats.org/officeDocument/2006/relationships/font" Target="fonts/Merriweather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Medium-boldItalic.fntdata"/><Relationship Id="rId25" Type="http://schemas.openxmlformats.org/officeDocument/2006/relationships/font" Target="fonts/MerriweatherMedium-italic.fntdata"/><Relationship Id="rId28" Type="http://schemas.openxmlformats.org/officeDocument/2006/relationships/font" Target="fonts/Merriweather-bold.fntdata"/><Relationship Id="rId27" Type="http://schemas.openxmlformats.org/officeDocument/2006/relationships/font" Target="fonts/Merriweath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regular.fntdata"/><Relationship Id="rId30" Type="http://schemas.openxmlformats.org/officeDocument/2006/relationships/font" Target="fonts/Merriweather-boldItalic.fntdata"/><Relationship Id="rId11" Type="http://schemas.openxmlformats.org/officeDocument/2006/relationships/slide" Target="slides/slide5.xml"/><Relationship Id="rId33" Type="http://schemas.openxmlformats.org/officeDocument/2006/relationships/font" Target="fonts/DMSans-italic.fntdata"/><Relationship Id="rId10" Type="http://schemas.openxmlformats.org/officeDocument/2006/relationships/slide" Target="slides/slide4.xml"/><Relationship Id="rId32" Type="http://schemas.openxmlformats.org/officeDocument/2006/relationships/font" Target="fonts/DM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DM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80473" y="1757362"/>
            <a:ext cx="843105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Fake News Detection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Using NLP Classifiers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043701" y="5380325"/>
            <a:ext cx="365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Submitted By: </a:t>
            </a:r>
            <a:br>
              <a:rPr lang="en-US" sz="1800">
                <a:solidFill>
                  <a:schemeClr val="lt2"/>
                </a:solidFill>
                <a:latin typeface="DM Sans Medium"/>
                <a:ea typeface="DM Sans Medium"/>
                <a:cs typeface="DM Sans Medium"/>
                <a:sym typeface="DM Sans Medium"/>
              </a:rPr>
            </a:br>
            <a:r>
              <a:rPr lang="en-US" sz="1800">
                <a:solidFill>
                  <a:schemeClr val="lt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Akshaya K P</a:t>
            </a:r>
            <a:endParaRPr sz="1800">
              <a:solidFill>
                <a:schemeClr val="lt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Anusree S</a:t>
            </a:r>
            <a:endParaRPr sz="1800">
              <a:solidFill>
                <a:schemeClr val="lt2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5276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42426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Social &amp; Political Impact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5276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85825" y="29195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29195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Erosion of Trust: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Misinformation undermines public confidence in institutions and media.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85825" y="34910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4910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Electoral Integrity: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Manipulative content can sway voter behavior and polarize communities.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85825" y="40625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2500" y="40625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Information Overload: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The sheer volume of digital content makes manual fact-checking unscalable.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85825" y="46340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46340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Rapid Dissemination: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Falsehoods often spread faster than corrections across social networks.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Global Misinformation Challenge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536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7536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6286500" y="211946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Core Characteristics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286500" y="2652861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LIAR dataset consists of 12.8k human-labeled short political statements from PolitiFact.com.</a:t>
            </a:r>
            <a:endParaRPr/>
          </a:p>
        </p:txBody>
      </p:sp>
      <p:graphicFrame>
        <p:nvGraphicFramePr>
          <p:cNvPr id="114" name="Google Shape;114;p15"/>
          <p:cNvGraphicFramePr/>
          <p:nvPr/>
        </p:nvGraphicFramePr>
        <p:xfrm>
          <a:off x="6286500" y="34148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{FB9500BF-F672-4BE0-8F16-7FBF7CD81D74}</a:tableStyleId>
              </a:tblPr>
              <a:tblGrid>
                <a:gridCol w="1436500"/>
                <a:gridCol w="3897500"/>
              </a:tblGrid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Labels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6-way (True to Pants-on-Fire)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Short political claims/statements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Speaker, Party, Context, Job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History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Speaker's past veracity counts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5"/>
          <p:cNvSpPr/>
          <p:nvPr/>
        </p:nvSpPr>
        <p:spPr>
          <a:xfrm>
            <a:off x="6286500" y="4372123"/>
            <a:ext cx="14364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722989" y="4372123"/>
            <a:ext cx="38975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286500" y="4867423"/>
            <a:ext cx="14364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722989" y="4867423"/>
            <a:ext cx="38975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286500" y="5362723"/>
            <a:ext cx="14364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722989" y="5362723"/>
            <a:ext cx="38975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286500" y="5858023"/>
            <a:ext cx="14364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722989" y="5858023"/>
            <a:ext cx="38975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Dataset: The LIAR Corpus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2761"/>
            <a:ext cx="11049000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119461"/>
            <a:ext cx="11601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Distribution of Truthfulness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795736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balanced dataset is crucial for avoiding classifier bias towards majority classes.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6510486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*Data shows "Half-True" and "False" as dominant classes, with "Pants-on-Fire" being the most extreme and least frequent.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Exploratory Data Analysis: Labels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4801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71500" y="211946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Key Stylistic Identifiers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652861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Fake news often exhibits specific patterns that differentiate it from objective reporting: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4801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85825" y="34148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34148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Emotional Appeal: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Higher usage of subjective and emotive language.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85825" y="39863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9863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Complexity: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Lower readability scores and less lexical diversity.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85825" y="45578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45578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Sensationalism: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Excessive use of punctuation (e.g., exclamation marks) and "clickbait" structures.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85825" y="51293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51293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Uncertainty: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Frequent use of hedging words or vague attributions.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Linguistic Signature of Fake News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15161"/>
            <a:ext cx="11049000" cy="687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52761"/>
            <a:ext cx="35559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1852761"/>
            <a:ext cx="3555950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1852761"/>
            <a:ext cx="3556099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6005661"/>
            <a:ext cx="10668000" cy="30613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904875" y="3043386"/>
            <a:ext cx="308366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Linguistic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04875" y="3719661"/>
            <a:ext cx="2936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Extraction of Readability scores (Flesch-Kincaid), Part-of-Speech (POS) tags, and Punctuation density.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651325" y="3043386"/>
            <a:ext cx="308366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Vectorization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4651325" y="3719661"/>
            <a:ext cx="2936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Converting text to numerical data using TF-IDF (Term Frequency-Inverse Document Frequency).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97775" y="3043386"/>
            <a:ext cx="30838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Embeddings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397775" y="3719661"/>
            <a:ext cx="2936974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Generating contextual representations using pre-trained BERT (Bidirectional Encoder Representations from Transformers).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2186136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51325" y="218613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97775" y="218613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Feature Engineering Strategy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2761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5276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6286500" y="230996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Ensemble of Methods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286500" y="2843361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We compared shallow machine learning against deep contextual models: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00825" y="36053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36053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Logistic Regression: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 robust baseline for high-dimensional TF-IDF features.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00825" y="41768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41768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Gradient Boosting: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Capturing non-linear relationships in linguistic and metadata features.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00825" y="47483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67500" y="47483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BERT Transformer: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Fine-tuned to capture semantic nuance and statement context.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Modeling Approach &amp; Classifiers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571500" y="856059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BERT Advantage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1379934"/>
            <a:ext cx="4953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1960959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Bidirectional Context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2494359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Unlike traditional methods, BERT looks at the entire sequence of words at once, allowing it to understand the relationship between "not" and the rest of a political claim.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3827859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By leveraging pre-trained knowledge from vast corpora, it identifies subtle nuances in political rhetoric that correlate with misinformation, even in short-form text.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1"/>
          <p:cNvGraphicFramePr/>
          <p:nvPr/>
        </p:nvGraphicFramePr>
        <p:xfrm>
          <a:off x="571500" y="20432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{FB9500BF-F672-4BE0-8F16-7FBF7CD81D74}</a:tableStyleId>
              </a:tblPr>
              <a:tblGrid>
                <a:gridCol w="3230750"/>
                <a:gridCol w="3712675"/>
                <a:gridCol w="2356100"/>
                <a:gridCol w="1749475"/>
              </a:tblGrid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Model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Features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Accuracy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F1-Score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TF-IDF +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~65.2%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Gradient Boosting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Linguistic + Metadata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~68.4%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4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Fine-tuned BERT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Embeddings + Context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~72.8%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1"/>
          <p:cNvSpPr txBox="1"/>
          <p:nvPr/>
        </p:nvSpPr>
        <p:spPr>
          <a:xfrm>
            <a:off x="571500" y="4291161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*Performance on LIAR 6-way classification. Accuracy increases significantly (&gt;85%) when collapsed to binary (Fake vs Real).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3000523"/>
            <a:ext cx="32307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802260" y="3000523"/>
            <a:ext cx="371266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7514927" y="3000523"/>
            <a:ext cx="23560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9871025" y="3000523"/>
            <a:ext cx="174947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571500" y="3495823"/>
            <a:ext cx="32307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802260" y="3495823"/>
            <a:ext cx="371266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7514927" y="3495823"/>
            <a:ext cx="23560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9871025" y="3495823"/>
            <a:ext cx="174947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571500" y="3991123"/>
            <a:ext cx="323076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802260" y="3991123"/>
            <a:ext cx="3712666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7514927" y="3991123"/>
            <a:ext cx="235609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9871025" y="3991123"/>
            <a:ext cx="174947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Comparative Performance Results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286148"/>
            <a:ext cx="5334000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211946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Generalizing Unseen Content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2652861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 true value of a fake news detector lies in its ability to handle new topics: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619875" y="2838598"/>
            <a:ext cx="49506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Insight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619875" y="3514873"/>
            <a:ext cx="47148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Combining metadata with linguistic features provides the highest "Topic-Agnostic" performance for detection systems.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85825" y="34148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52500" y="34148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Health Domain: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Performance drops slightly (~5-8%) when tested on medical misinformation.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85825" y="39863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952500" y="39863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Thematic Stability: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Models perform best when the political context (Speaker/Party) is known.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85825" y="45578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952500" y="455786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Linguistic Consistency: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Stylistic features (emotion, complexity) generalize better than specific keywords.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Cross-Domain Generalization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52761"/>
            <a:ext cx="35559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852761"/>
            <a:ext cx="355595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52761"/>
            <a:ext cx="3556099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904875" y="3043386"/>
            <a:ext cx="308366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Key Finding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04875" y="3719661"/>
            <a:ext cx="2936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Deep learning (BERT) significantly outperforms traditional ML by understanding contextual semantics in political discourse.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51325" y="3043386"/>
            <a:ext cx="308366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Criticality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51325" y="3719661"/>
            <a:ext cx="2936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Linguistic signatures alone are insufficient; metadata (speaker history) is the strongest predictor in the LIAR dataset.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397775" y="3043386"/>
            <a:ext cx="308382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5088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Next Steps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8397775" y="3719661"/>
            <a:ext cx="293697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Integration of real-time knowledge graphs to verify claims against a dynamic "Ground Truth" database.</a:t>
            </a:r>
            <a:endParaRPr/>
          </a:p>
        </p:txBody>
      </p:sp>
      <p:pic>
        <p:nvPicPr>
          <p:cNvPr descr="image.png" id="256" name="Google Shape;25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18613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1325" y="2186136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7775" y="218613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571500" y="91931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 &amp; Strategic Outlook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1538436"/>
            <a:ext cx="11049000" cy="285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508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2225394" y="2557900"/>
            <a:ext cx="77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50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